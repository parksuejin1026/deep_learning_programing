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61"/>
  </p:notesMasterIdLst>
  <p:handoutMasterIdLst>
    <p:handoutMasterId r:id="rId62"/>
  </p:handoutMasterIdLst>
  <p:sldIdLst>
    <p:sldId id="272" r:id="rId3"/>
    <p:sldId id="268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308" r:id="rId25"/>
    <p:sldId id="309" r:id="rId26"/>
    <p:sldId id="310" r:id="rId27"/>
    <p:sldId id="311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4" r:id="rId60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0E2"/>
    <a:srgbClr val="DBDDDC"/>
    <a:srgbClr val="BC6501"/>
    <a:srgbClr val="F3850B"/>
    <a:srgbClr val="FFCC66"/>
    <a:srgbClr val="B9B9B9"/>
    <a:srgbClr val="E0AC00"/>
    <a:srgbClr val="68676C"/>
    <a:srgbClr val="8D9DD8"/>
    <a:srgbClr val="953D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15" autoAdjust="0"/>
    <p:restoredTop sz="94660"/>
  </p:normalViewPr>
  <p:slideViewPr>
    <p:cSldViewPr showGuides="1">
      <p:cViewPr varScale="1">
        <p:scale>
          <a:sx n="94" d="100"/>
          <a:sy n="94" d="100"/>
        </p:scale>
        <p:origin x="1284" y="78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17" d="100"/>
          <a:sy n="117" d="100"/>
        </p:scale>
        <p:origin x="1206" y="90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2025-04-02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직사각형 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4/2/2025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4/2/2025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4/2/2025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4/2/2025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8258848" y="37582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312354" y="2556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22" name="직사각형 2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1" name="직사각형 20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직사각형 15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37582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25569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22" name="직사각형 2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8232497" y="420531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691650" y="1067113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직사각형 7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4/2/2025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8258848" y="433436"/>
            <a:ext cx="748891" cy="979319"/>
          </a:xfrm>
          <a:prstGeom prst="rect">
            <a:avLst/>
          </a:prstGeom>
          <a:solidFill>
            <a:srgbClr val="DBDD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8.jp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28137" y="2587154"/>
            <a:ext cx="8081453" cy="800724"/>
          </a:xfrm>
        </p:spPr>
        <p:txBody>
          <a:bodyPr/>
          <a:lstStyle/>
          <a:p>
            <a:pPr algn="ctr"/>
            <a:r>
              <a:rPr lang="ko-KR" altLang="en-US" sz="2600" dirty="0" smtClean="0"/>
              <a:t>자연어 처리</a:t>
            </a:r>
            <a:r>
              <a:rPr lang="en-US" altLang="ko-KR" sz="2600" dirty="0" smtClean="0"/>
              <a:t>(NLP)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처리란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우리가 일상생활에서 사용하는 언어 의미를 분석하여 컴퓨터가 처리할 수 있도록 하는 과정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대한 이해도 필요하지만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그에 앞서 인간 언어에 대한 이해도 필요하기 때문에 접근하기 어려운 분야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언어 종류가 다르고 그 형태가 다양하기 때문에 처리가 매우 어려움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영어는 명확한 띄어쓰기가 있지만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중국어는 띄어쓰기가 없기 때문에 단어 단위의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어려움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처리를 위해 사용되는 용어들도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낯섬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423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그림은 자연어 처리가 가능한 영역과 발전이 필요한 분야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스팸 처리 및 맞춤법 검사는 완성도가 높은 반면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질의응답 및 대화는 아직 발전이 더 필요한 분야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DC889D7-4C0B-44BF-B809-50CAC8A68AAA}"/>
              </a:ext>
            </a:extLst>
          </p:cNvPr>
          <p:cNvSpPr txBox="1">
            <a:spLocks/>
          </p:cNvSpPr>
          <p:nvPr/>
        </p:nvSpPr>
        <p:spPr>
          <a:xfrm>
            <a:off x="597117" y="285581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-1 </a:t>
            </a:r>
            <a:r>
              <a:rPr lang="ko-KR" altLang="en-US" sz="1600" b="1" dirty="0"/>
              <a:t>자연어 처리 완성도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7A6459-65F5-48C3-A678-4E401951A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3221879"/>
            <a:ext cx="4610100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자연어 처리 관련 용어</a:t>
            </a: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   말뭉치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(corpus(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코퍼스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))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처리에서 모델을 학습시키기 위한 데이터이며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자연어 연구를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위해 특정한 목적에서 표본을 추출한 집합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E7358B-9206-4926-B999-048F47927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276860"/>
            <a:ext cx="76200" cy="7620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A4BAEFF-6F05-4F8B-A9C8-65C3AE930A13}"/>
              </a:ext>
            </a:extLst>
          </p:cNvPr>
          <p:cNvSpPr txBox="1">
            <a:spLocks/>
          </p:cNvSpPr>
          <p:nvPr/>
        </p:nvSpPr>
        <p:spPr>
          <a:xfrm>
            <a:off x="597117" y="291053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 smtClean="0"/>
              <a:t>-2 </a:t>
            </a:r>
            <a:r>
              <a:rPr lang="ko-KR" altLang="en-US" sz="1600" b="1" dirty="0"/>
              <a:t>말뭉치</a:t>
            </a:r>
            <a:r>
              <a:rPr lang="en-US" altLang="ko-KR" sz="1600" b="1" dirty="0"/>
              <a:t>(corpus)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B280E7-1050-4D4F-9F12-0B8776FF0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254038"/>
            <a:ext cx="489585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3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>
            <a:normAutofit/>
          </a:bodyPr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토큰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처리를 위한 문서는 작은 단위로 나누어야 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문서를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나누는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단위가 토큰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문자열을 토큰으로 나누는 작업을 토큰 생성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(tokenizing)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하며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문자열을 토큰으로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분리하는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토큰 생성 함수라고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토큰화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(tokenization)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문장이나 단어로 분리하는 것을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토큰화 단계를 마치면 텍스트가 단어 단위로 분리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불용어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(stop words)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 내에서 많이 등장하는 단어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분석과 관계없으며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자주 등장하는 빈도 때문에 성능에 영향을 미치므로 사전에 제거해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주어야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불용어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예로 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a”, “the”, “she”, “he”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90A7B7-4392-4DAD-9DF8-E76BA1BE4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1970232"/>
            <a:ext cx="76200" cy="76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B7F5B1B-8CBC-473A-965A-C3E79E047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601821"/>
            <a:ext cx="76200" cy="76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589F986-3172-404D-AB36-B70E7BF56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620154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0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   어간 추출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(stemming)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단어를 기본 형태로 만드는 작업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consign’, ‘consigned’, ‘consigning’, ‘consignment’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있을 때 기본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단어인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consign’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통일하는 것이 어간 추출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90A7B7-4392-4DAD-9DF8-E76BA1BE4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1970232"/>
            <a:ext cx="76200" cy="762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F8D0AD75-8695-4D2A-88BF-FA1BB0B26F33}"/>
              </a:ext>
            </a:extLst>
          </p:cNvPr>
          <p:cNvSpPr txBox="1">
            <a:spLocks/>
          </p:cNvSpPr>
          <p:nvPr/>
        </p:nvSpPr>
        <p:spPr>
          <a:xfrm>
            <a:off x="597117" y="291053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-3 </a:t>
            </a:r>
            <a:r>
              <a:rPr lang="ko-KR" altLang="en-US" sz="1600" b="1" dirty="0"/>
              <a:t>어간 추출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828044-956C-4841-B25D-2206B0177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3279722"/>
            <a:ext cx="22955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5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       품사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(part-of-speech tagging)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주어진 문장에서 품사를 식별하기 위해 붙여 주는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태그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식별 정보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90A7B7-4392-4DAD-9DF8-E76BA1BE4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1970232"/>
            <a:ext cx="76200" cy="762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F8D0AD75-8695-4D2A-88BF-FA1BB0B26F33}"/>
              </a:ext>
            </a:extLst>
          </p:cNvPr>
          <p:cNvSpPr txBox="1">
            <a:spLocks/>
          </p:cNvSpPr>
          <p:nvPr/>
        </p:nvSpPr>
        <p:spPr>
          <a:xfrm>
            <a:off x="597117" y="2567782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-4 </a:t>
            </a:r>
            <a:r>
              <a:rPr lang="ko-KR" altLang="en-US" sz="1600" b="1" dirty="0"/>
              <a:t>품사 </a:t>
            </a:r>
            <a:r>
              <a:rPr lang="ko-KR" altLang="en-US" sz="1600" b="1" dirty="0" err="1"/>
              <a:t>태깅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744EBF-6EEC-426D-970D-1158B2EEF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31" y="3027849"/>
            <a:ext cx="56483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위한 정보는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Det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한정사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Noun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Verb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Prep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전치사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19D98C-E7B1-4294-9651-AC356386A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680109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46316E-D669-4D23-B41C-36758F06A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007158"/>
            <a:ext cx="76200" cy="76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A9C3563-8742-4071-9161-D54479512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295193"/>
            <a:ext cx="76200" cy="76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30F6447-7EF9-45DD-AF82-8B84453953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640835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1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아나콘다가 설치되어 있다면 추가적으로 설치할 필요가 없지만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책에서는 가상 환경에서 실습하므로 다음 명령으로 설치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6191CA-11DF-49CB-B6EA-A87D684F2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2449681"/>
            <a:ext cx="15240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1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위해 주어진 문장에 대해 토큰화를 먼저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코드를 실행하면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 Downloader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창이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Download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눌러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E66C41-E969-465F-9F80-60527E2F6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20" y="2795323"/>
            <a:ext cx="708660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7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내려받은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자원을 이용하여 품사를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A1BC16-1AD6-4038-BD0B-A4B131146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20" y="2161646"/>
            <a:ext cx="708660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대한 출력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762F47-8B54-4D77-BC4C-E3A5F954E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2209800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65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여기에서 사용되는 품사 의미는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VBZ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동명사 또는 현재 분사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PRP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인칭 대명사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(PP)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JJ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형용사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VBG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동명사 또는 현재 분사</a:t>
            </a: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NNS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명사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복수형</a:t>
            </a: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CC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등위 접속사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1366AF-4714-46EB-8653-CFD34041F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661516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CC9B63-AF3A-47EF-8A3A-817C74276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2968144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1A7C114-4386-419E-A698-6DC774A6C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295193"/>
            <a:ext cx="76200" cy="76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DD2227D-D8D5-463C-A6FF-DC2D579AC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640835"/>
            <a:ext cx="76200" cy="762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2260DD5-08A4-411E-A756-E68BB87A8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986477"/>
            <a:ext cx="76200" cy="762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3CFF818-2ED9-4F9A-B560-BD8368F9D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293105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1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자연어 처리 과정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자연어는 인간 언어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인간 언어는 컴퓨터가 이해할 수 없기 때문에 컴퓨터가 이해할 수 있는 언어로 바꾸고 원하는 결과를 얻기까지 크게 네 단계를 거침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 번째로 인간 언어인 자연어가 입력 텍스트로 들어오게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인간 언어가 다양하듯 처리 방식이 조금씩 다르며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현재는 영어에 대한 처리 방법들이 잘 알려져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두 번째로는 입력된 텍스트에 대한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과정이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세 번째로 전처리가 끝난 단어들을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909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 용어 및 과정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마지막으로 컴퓨터가 이해할 수 있는 데이터가 완성되었기 때문에 모델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결정 트리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이용하여 데이터에 대한 분류 및 예측을 수행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데이터 유형에 따라 분류와 예측에 대한 결과가 달라짐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D83F99-9DD8-4A44-83E4-811ED1D5F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113" y="2161646"/>
            <a:ext cx="1714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13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BAB1AF3-5EA1-4FC5-8A2E-AC9888559471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-6 </a:t>
            </a:r>
            <a:r>
              <a:rPr lang="ko-KR" altLang="en-US" sz="1600" b="1" dirty="0"/>
              <a:t>자연어 처리 과정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3E233A9-1DD8-47D5-B352-84C1E2DC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83869"/>
            <a:ext cx="58959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15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NLTK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NLTK(Natural Language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ToolKit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교육용으로 개발된 자연어 처리 및 문서 분석용 파이썬 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다양한 기능 및 예제를 가지고 있으며 실무 및 연구에서도 많이 사용되고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라이브러리가 제공하는 주요 기능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말뭉치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토큰 생성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형태소 분석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754FE6-F06C-4851-A77C-E12CD3EF3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889856"/>
            <a:ext cx="76200" cy="7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6D14F20-0CF8-47E4-B9A8-151C8127B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216905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54EFA36-90AA-4D15-B638-E4975EC49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562547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68D5E46-B030-4DF6-B97A-ABE6F068E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908189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62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설치한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NLTK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라이브러리를 이용하여 예제를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6A4005-C63D-4AC6-893A-3DD16E39B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175356"/>
            <a:ext cx="71056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9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string1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대해 문장을 단어로 쪼갠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A68A3A8-4801-4D6E-8889-50B18B12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507" y="2219253"/>
            <a:ext cx="346710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3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string2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nltk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이용해서 단어 단위로 분리해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6698BC-E0E4-433D-805F-3899DC711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161646"/>
            <a:ext cx="71151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14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string2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대해 문장을 단어로 분리시킨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49B2BB-25FE-4FCC-8516-C72285780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76342"/>
            <a:ext cx="11334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0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코엔엘파이라고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읽음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한국어 처리를 위한 파이썬 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사용할 수 있는 오픈 소스 형태소 분석기로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기존에 공개된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꼬꼬마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Kkma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코모란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Komoran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한나눔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Hannanum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트위터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(Twitter)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메카브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Mecab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분석기를 한 번에 설치하고 동일한 방법으로 사용할 수 있도록 해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4973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문장을 형태소로 변환한 출력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E8F654-C740-40A3-A4D4-139F4FE3C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39433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90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문장을 형태소로 변환한 후 품사를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문장을 형태소로 분해하여 품사를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출력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참고로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KoNLPy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제공하는 주요 기능은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형태소 분석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품사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태깅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5B36F0-2677-4229-AFC6-659CE6A82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161646"/>
            <a:ext cx="7124700" cy="10096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310CAA5-1A2E-48EF-ACA2-E625487E7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541087"/>
            <a:ext cx="6467475" cy="8096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60B6D9-9DFB-4321-BD78-407C2C2E7C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5272424"/>
            <a:ext cx="76200" cy="76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8D24E1-8663-472A-81BD-EC0BCD07A4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5618066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883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4.1 </a:t>
            </a:r>
            <a:r>
              <a:rPr lang="ko-KR" altLang="en-US" dirty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형태소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형태소는 언어를 쪼갤 때 의미를 가지는 최소 단위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그림은 형태소 분석을 위한 단계를 도식화한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1EA48E2B-F9ED-4AD4-B4F8-909733BA8EE0}"/>
              </a:ext>
            </a:extLst>
          </p:cNvPr>
          <p:cNvSpPr txBox="1">
            <a:spLocks/>
          </p:cNvSpPr>
          <p:nvPr/>
        </p:nvSpPr>
        <p:spPr>
          <a:xfrm>
            <a:off x="597117" y="2913424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-14 </a:t>
            </a:r>
            <a:r>
              <a:rPr lang="ko-KR" altLang="en-US" sz="1600" b="1" dirty="0"/>
              <a:t>형태소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0AA042-742D-40F3-B7BF-8667193E4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24" y="3290900"/>
            <a:ext cx="4829175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65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endParaRPr lang="en-US" altLang="ko-KR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(Word2Vec)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라이브러리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라이브러리는 아니지만 효율적이고 확장 가능하기 때문에 폭넓게 사용하고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Gensim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제공하는 주요 기능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토픽 모델링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       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LDA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(Latent Dirichlet Allocation)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C5C21-A014-4892-A7C4-0EFB4812D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640835"/>
            <a:ext cx="76200" cy="7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056CE6-2529-4CD1-866C-250262F8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947463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E8DB60-777A-4270-AB65-464DF9546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4293105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1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KoPub돋움체_Pro Bold" pitchFamily="18" charset="-127"/>
                <a:ea typeface="KoPub돋움체_Pro Bold" pitchFamily="18" charset="-127"/>
              </a:rPr>
              <a:t>자연어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처리란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자연어 처리를 위한 라이브러리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사이킷런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(scikit-learn)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파이썬을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이용하여 문서를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 있는 라이브러리를 제공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처리에서 특성 추출 용도로 많이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주요 기능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텍스트에서 단어의 등장 횟수를 기준으로 특성을 추출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Tfidfvectorizer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: TF-IDF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사용해서 텍스트에서 특성을 추출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       </a:t>
            </a:r>
            <a:r>
              <a:rPr lang="en-US" altLang="ko-KR" b="1" dirty="0" err="1">
                <a:latin typeface="KoPub돋움체_Pro Light" pitchFamily="18" charset="-127"/>
                <a:ea typeface="KoPub돋움체_Pro Light" pitchFamily="18" charset="-127"/>
              </a:rPr>
              <a:t>HashingVectorizer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: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와 방법이 동일하지만 텍스트를 처리할 때 해시 </a:t>
            </a:r>
            <a:r>
              <a:rPr lang="ko-KR" altLang="en-US" dirty="0" smtClean="0">
                <a:latin typeface="KoPub돋움체_Pro Light" pitchFamily="18" charset="-127"/>
                <a:ea typeface="KoPub돋움체_Pro Light" pitchFamily="18" charset="-127"/>
              </a:rPr>
              <a:t>함수를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사용하기 때문에 실행 시간이 감소</a:t>
            </a:r>
            <a:endParaRPr lang="en-US" altLang="ko-KR" dirty="0">
              <a:solidFill>
                <a:schemeClr val="bg1">
                  <a:lumMod val="6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7C5C21-A014-4892-A7C4-0EFB4812D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54594" y="3871263"/>
            <a:ext cx="172821" cy="1728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056CE6-2529-4CD1-866C-250262F8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3187" y="4177891"/>
            <a:ext cx="172821" cy="17282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E8DB60-777A-4270-AB65-464DF9546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3187" y="4523533"/>
            <a:ext cx="172821" cy="17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1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lang="ko-KR" altLang="en-US" sz="3200" b="1" dirty="0" smtClean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자연어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처리를 위한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임베딩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651247" y="1181231"/>
            <a:ext cx="5974671" cy="12440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482421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2000" b="1" dirty="0" err="1" smtClean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b="1" dirty="0" smtClean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트랜스포머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어텐션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2000" b="1" dirty="0" smtClean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한국어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임베딩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83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ko-KR" altLang="en-US" sz="2600" dirty="0" err="1" smtClean="0"/>
              <a:t>임베딩</a:t>
            </a:r>
            <a:endParaRPr lang="en-US" altLang="ko-KR" sz="2600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A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00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(embedding)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사람이 사용하는 언어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컴퓨터가 이해할 수 있는 언어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숫자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형태인 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(vector)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변환한 결과 혹은 일련의 과정을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역할은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단어 및 문장 간 관련성 계산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의미적 혹은 문법적 정보의 함축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  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교사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방법에 따라 희소 표현 기반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횟수 기반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 기반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횟수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/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 기반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5A745D-9EAD-4EA9-9097-47C1C311E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256179"/>
            <a:ext cx="76200" cy="76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E3EC33E-66F8-4D64-8C22-98D2186FB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3544214"/>
            <a:ext cx="76200" cy="762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B875DB6-02D8-4B80-81A5-B69E3F57E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80" y="3477539"/>
            <a:ext cx="1714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1118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희소 표현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희소 표현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(sparse representation)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대부분의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채워져 있는 경우로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대표적으로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핫 인코딩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(one-hot encoding)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이란 주어진 텍스트를 숫자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벡터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변환해 주는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다시 말해 단어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개를 각각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차원의 벡터로 표현하는 방식으로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단어가 포함되어 있는 위치에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넣고 나머지에는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채움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딕셔너리에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[calm, fast, cat]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같은 값이 있다면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fast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표현하는 벡터는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[0, 1, 0]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3996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A19DC7B-7C17-47B1-B644-0D917212594E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-1 </a:t>
            </a:r>
            <a:r>
              <a:rPr lang="ko-KR" altLang="en-US" sz="1600" b="1" dirty="0"/>
              <a:t>원</a:t>
            </a:r>
            <a:r>
              <a:rPr lang="en-US" altLang="ko-KR" sz="1600" b="1" dirty="0"/>
              <a:t>-</a:t>
            </a:r>
            <a:r>
              <a:rPr lang="ko-KR" altLang="en-US" sz="1600" b="1" dirty="0"/>
              <a:t>핫 인코딩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8969594-E704-419A-9A5D-7E1B3B846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117" y="1928314"/>
            <a:ext cx="57054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309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희소 표현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이용하여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인코딩을 적용한 예제를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smtClean="0">
                <a:latin typeface="KoPub돋움체_Pro Light" pitchFamily="18" charset="-127"/>
                <a:ea typeface="KoPub돋움체_Pro Light" pitchFamily="18" charset="-127"/>
              </a:rPr>
              <a:t>class2.csv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파일을 사용하여 예제를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E60EE8-EF33-4FCC-BD1D-F42309243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638" y="2490667"/>
            <a:ext cx="71151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573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희소 표현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인코딩을 적용한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A964C1-FBAE-46AD-B3CC-60FACD55A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2219253"/>
            <a:ext cx="20574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202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희소 표현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인코딩에는 치명적인 단점이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첫째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수학적인 의미에서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벡터들은 하나의 요소만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갖고 나머지는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 희소 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(sparse vector)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갖음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두 단어에 대한 벡터의 내적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(inner product)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구해 보면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갖게 되므로 직교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(orthogonal)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단어끼리 관계성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유의어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반의어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없이 서로 독립적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(independent)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인 관계가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둘째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차원의 저주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(curse of dimensionality)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’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문제가 발생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하나의 단어를 표현하는 데 말뭉치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(corpus)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있는 수만큼 차원이 존재하기 때문에 복잡해짐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단어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개를 포함한 데이터셋에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배열을 구성한다면 그 차원 개수는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 개에 이르게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7514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희소 표현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인코딩에 대한 대안으로 신경망에 기반하여 단어를 벡터로 바꾸는 방법론들이 주목을 받고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(Word2Vec)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글로브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GloVe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패스트텍스트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FastText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등이 대표적인 방법론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88699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횟수 기반은 단어가 출현한 빈도를 고려하여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임베딩하는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대표적으로 카운터 벡터와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1859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카운터 벡터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카운터 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(counter vector)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문서 집합에서 단어를 토큰으로 생성하고 각 단어의 출현 빈도수를 이용하여 인코딩해서 벡터를 만드는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토크나이징과 벡터화가 동시에 가능한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043241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카운터 벡터는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사용하여 코드로 구현할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다음 작업이 가능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F3850B"/>
                </a:solidFill>
                <a:latin typeface="KoPub돋움체_Pro Light" pitchFamily="18" charset="-127"/>
                <a:ea typeface="KoPub돋움체_Pro Light" pitchFamily="18" charset="-127"/>
              </a:rPr>
              <a:t>1.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문서를 토큰 리스트로 변환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F3850B"/>
                </a:solidFill>
                <a:latin typeface="KoPub돋움체_Pro Light" pitchFamily="18" charset="-127"/>
                <a:ea typeface="KoPub돋움체_Pro Light" pitchFamily="18" charset="-127"/>
              </a:rPr>
              <a:t>2.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문서에서 토큰의 출현 빈도를 셈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solidFill>
                  <a:srgbClr val="F3850B"/>
                </a:solidFill>
                <a:latin typeface="KoPub돋움체_Pro Light" pitchFamily="18" charset="-127"/>
                <a:ea typeface="KoPub돋움체_Pro Light" pitchFamily="18" charset="-127"/>
              </a:rPr>
              <a:t>3.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문서를 인코딩하고 벡터로 변환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021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이용한 예제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코퍼스를 정의하고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객체를 생성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610ECA-9621-4A1D-9142-9E40974C6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45" y="2507288"/>
            <a:ext cx="71437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282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코퍼스에 카운터 벡터를 적용한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37B97C-3CB8-4EBA-97B2-9F8707D4C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87" y="2219253"/>
            <a:ext cx="1076325" cy="20097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B227B38-03A2-44FF-A13C-465D09BF2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67" y="4229028"/>
            <a:ext cx="108585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0061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CountVectorizer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적용 결과를 배열로 변환해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배열로 변환한 출력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BA88D4F-A4DE-46BA-9C0B-FB6F97F11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161646"/>
            <a:ext cx="7124700" cy="742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45A78C0-6A50-48AA-839B-04AFF379B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544214"/>
            <a:ext cx="5591175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43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이번에는 불용어를 제거한 카운터 벡터를 확인해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D6D415-9770-4BDA-BD1B-78679BB65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200275"/>
            <a:ext cx="711517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92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7.1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불용어를 제거한 카운터 벡터가 다음과 같이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8CF965A-4CC3-45DB-B238-73D7E6B1E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38" y="2204917"/>
            <a:ext cx="113347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18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TF-IDF</a:t>
            </a: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(Term Frequency-Inverse Document Frequency)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정보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검색론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(Information Retrieval, IR)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가중치를 구할 때 사용되는 알고리즘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51114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(Term Frequency)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빈도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문서 내에서 특정 단어가 출현한 빈도를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신문기사라는 단어가 포함되어 있다고 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이것은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신문기사’에서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딥러닝’이라는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단어가 몇 번 등장했는지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신문기사’에서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딥러닝’이라는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단어가 많이 등장한다면 이 기사는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관련이 높다고 할 수 있으며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수식을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tft,d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특정 문서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특정 단어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등장 횟수를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혹은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D13982-53C1-4933-BE1B-5A86E8F79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38" y="4144716"/>
            <a:ext cx="3829050" cy="6477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DBD2CC-3A61-4711-A379-9E5BD8B7E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38" y="5445245"/>
            <a:ext cx="300990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7546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7.1 </a:t>
            </a:r>
            <a:r>
              <a:rPr lang="ko-KR" altLang="en-US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IDF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(Inverse Document Frequency)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역문서 빈도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이해하려면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DF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(Document Frequency)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문서 빈도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대한 개념부터 이해해야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한 단어가 전체 문서에서 얼마나 공통적으로 많이 등장하는지 나타내는 값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특정 단어가 나타난 문서 개수라고 이해하면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6165A7-C8FD-4762-92C9-1380857FB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12" y="3191332"/>
            <a:ext cx="298132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708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특정 단어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 모든 문서에 등장하는 일반적인 단어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    a, the)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TF-IDF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가중치를 낮추어 줄 필요가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클수록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가중치 값을 낮추기 위해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값에 역수를 취하는데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값이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IDF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역수를 취하면 전체 문서 개수가 많아질수록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값도 커지므로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IDF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로그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(log)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취해야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이것을 수식으로 표현하면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D4A231-2959-483B-8565-6CE5D3619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961" y="1931218"/>
            <a:ext cx="171450" cy="2095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B377F7-4826-41B0-8240-40E29D122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3942249"/>
            <a:ext cx="41338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90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중요한 점은 전체 문서에 특정 단어가 발생하는 빈도가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이라면 분모가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되는 상황이 발생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방지하고자 다음과 같이 분모에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더해 주는 것을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스무딩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(smoothing)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936432-4C1D-46CC-B94B-4C9369150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025751"/>
            <a:ext cx="463867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197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650" y="1643183"/>
            <a:ext cx="5436516" cy="49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863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81" y="1470362"/>
            <a:ext cx="4550953" cy="27728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871" y="2334467"/>
            <a:ext cx="3702261" cy="201624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187" y="4613510"/>
            <a:ext cx="6867779" cy="194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924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다음 상황에서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키워드 검색을 기반으로 하는 검색 엔진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중요 키워드 분석</a:t>
            </a:r>
          </a:p>
          <a:p>
            <a:pPr marL="334963" lvl="1" indent="0">
              <a:buNone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     검색 엔진에서 검색 결과의 순위를 결정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E3AE12-614D-4D24-9CE0-93C762E3A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01" y="2661516"/>
            <a:ext cx="76200" cy="76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449CFD2-905B-4153-856A-99C0870A8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2949551"/>
            <a:ext cx="76200" cy="76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5C90F7-B8DB-4B21-9FB8-4AB857468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794" y="3295193"/>
            <a:ext cx="762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36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사이킷런의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TfidfVectorizer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예제를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코퍼스를 정의하고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TfidfVectorizer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적용한 후 유사도를 계산하여 행렬로 표현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232450-FB89-4E1F-B6DE-0398E0431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52" y="2488839"/>
            <a:ext cx="71247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51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횟수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적용한 후 행렬로 표현한 결과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값은 특정 문서 내에서 단어의 출현 빈도가 높거나 전체 문서에서 특정 단어가 포함된 문서가 적을수록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TF-IDF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값이 높음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값을 사용하여 문서에 나타나는 흔한 단어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   a, the)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들을 걸러 내거나 특정 단어에 대한 중요도를 찾을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653B081-2072-401B-8F13-0F23C89ED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2237004"/>
            <a:ext cx="2990850" cy="10191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0D3273B-2DE3-487D-9B1E-BDE622B9F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891" y="4177891"/>
            <a:ext cx="171450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73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예측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 기반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신경망 구조 혹은 모델을 이용하여 특정 문맥에서 어떤 단어가 나올지 예측하면서 단어를 벡터로 만드는 방식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대표적으로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16142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예측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endParaRPr lang="ko-KR" altLang="en-US" b="1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(Word2Vec)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신경망 알고리즘으로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주어진 텍스트에서 텍스트의 각 단어마다 하나씩 일련의 벡터를 출력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출력 벡터가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차원 그래프에 표시될 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의미론적으로 유사한 단어의 벡터는 서로 가깝게 표현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‘서로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가깝다’는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의미는 코사인 유사도를 이용하여 단어 간의 거리를 측정한 결과로 나타나는 관계성을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이용하면 특정 단어의 동의어를 찾을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41322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63102" cy="4964629"/>
          </a:xfrm>
        </p:spPr>
        <p:txBody>
          <a:bodyPr/>
          <a:lstStyle/>
          <a:p>
            <a:r>
              <a:rPr lang="ko-KR" altLang="en-US" b="1" dirty="0">
                <a:latin typeface="KoPub돋움체_Pro Bold" pitchFamily="18" charset="-127"/>
                <a:ea typeface="KoPub돋움체_Pro Bold" pitchFamily="18" charset="-127"/>
              </a:rPr>
              <a:t>예측 기반 </a:t>
            </a:r>
            <a:r>
              <a:rPr lang="ko-KR" altLang="en-US" b="1" dirty="0" err="1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워드투벡터가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수행되는 과정은 다음 그림과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일정한 크기의 윈도우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(window)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분할된 텍스트를 신경망 입력으로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모든 분할된 텍스트는 한 쌍의 대상 단어와 컨텍스트로 네트워크에 공급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그림과 같이 대상 단어는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one’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이고 컨텍스트는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and’, ‘I’, ‘love’, ‘this’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단어로 구성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또한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네트워크의 은닉층에는 각 단어에 대한 가중치가 포함되어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46990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latin typeface="KoPub돋움체_Pro Bold" pitchFamily="18" charset="-127"/>
                <a:ea typeface="KoPub돋움체_Pro Bold" pitchFamily="18" charset="-127"/>
              </a:rPr>
              <a:t>임베딩</a:t>
            </a:r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5165304-8219-44FA-8536-EE60D1BF841D}"/>
              </a:ext>
            </a:extLst>
          </p:cNvPr>
          <p:cNvSpPr txBox="1">
            <a:spLocks/>
          </p:cNvSpPr>
          <p:nvPr/>
        </p:nvSpPr>
        <p:spPr>
          <a:xfrm>
            <a:off x="597117" y="1530856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</a:t>
            </a:r>
            <a:r>
              <a:rPr lang="ko-KR" altLang="en-US" sz="1600" b="1"/>
              <a:t>그림 </a:t>
            </a:r>
            <a:r>
              <a:rPr lang="en-US" altLang="ko-KR" sz="1600" b="1" smtClean="0"/>
              <a:t>-2 </a:t>
            </a:r>
            <a:r>
              <a:rPr lang="ko-KR" altLang="en-US" sz="1600" b="1" dirty="0" err="1"/>
              <a:t>워드투벡터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45C3E6-EC48-41A7-87BD-B31E3A3B4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707" y="1931218"/>
            <a:ext cx="69532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796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7241</TotalTime>
  <Words>2098</Words>
  <Application>Microsoft Office PowerPoint</Application>
  <PresentationFormat>화면 슬라이드 쇼(4:3)</PresentationFormat>
  <Paragraphs>314</Paragraphs>
  <Slides>58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자연어 처리(NLP)</vt:lpstr>
      <vt:lpstr>4.1 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자연어 처리란</vt:lpstr>
      <vt:lpstr>4.1 자연어 처리란</vt:lpstr>
      <vt:lpstr>4.1 자연어 처리란</vt:lpstr>
      <vt:lpstr>4.1 자연어 처리란</vt:lpstr>
      <vt:lpstr>자연어 처리란</vt:lpstr>
      <vt:lpstr>4.1 자연어 처리란</vt:lpstr>
      <vt:lpstr>자연어 처리란</vt:lpstr>
      <vt:lpstr>4.1 자연어 처리란</vt:lpstr>
      <vt:lpstr>자연어 처리란</vt:lpstr>
      <vt:lpstr>4.1 자연어 처리란</vt:lpstr>
      <vt:lpstr>자연어 처리란</vt:lpstr>
      <vt:lpstr>4.1 자연어 처리란</vt:lpstr>
      <vt:lpstr>자연어 처리란</vt:lpstr>
      <vt:lpstr>자연어 처리란</vt:lpstr>
      <vt:lpstr>PowerPoint 프레젠테이션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7.1 임베딩</vt:lpstr>
      <vt:lpstr>임베딩</vt:lpstr>
      <vt:lpstr>임베딩</vt:lpstr>
      <vt:lpstr>7.1 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  <vt:lpstr>임베딩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Jo</cp:lastModifiedBy>
  <cp:revision>1126</cp:revision>
  <cp:lastPrinted>2016-08-10T06:58:55Z</cp:lastPrinted>
  <dcterms:created xsi:type="dcterms:W3CDTF">2013-04-05T19:58:06Z</dcterms:created>
  <dcterms:modified xsi:type="dcterms:W3CDTF">2025-04-02T00:40:07Z</dcterms:modified>
</cp:coreProperties>
</file>