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  <p:sldMasterId id="2147483712" r:id="rId3"/>
  </p:sldMasterIdLst>
  <p:notesMasterIdLst>
    <p:notesMasterId r:id="rId55"/>
  </p:notesMasterIdLst>
  <p:handoutMasterIdLst>
    <p:handoutMasterId r:id="rId56"/>
  </p:handoutMasterIdLst>
  <p:sldIdLst>
    <p:sldId id="267" r:id="rId4"/>
    <p:sldId id="273" r:id="rId5"/>
    <p:sldId id="272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4" d="100"/>
          <a:sy n="104" d="100"/>
        </p:scale>
        <p:origin x="744" y="102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2026-04-14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291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3E250-52CE-2B21-16DD-0D6C90CAC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B81759-5338-12B4-1646-7CDD776C8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63E891-84D2-3740-55B9-6C76CE84E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54851B-C2BC-D962-EB45-5FC8EE194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197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806FB-B8F3-69DB-8FE3-7C0205FB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ED16E9-D82C-A670-A285-82118367B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C19011-480D-707D-F20A-8CF5BF58B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C4C189-78D2-EDD0-A3B4-7D5FE87C2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667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E443-B041-21F0-2484-0B151415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535DF6-4020-52F4-9C37-242970E07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11AD26-7EB8-540F-959A-C3B6D75E9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AA021E-1C88-D2A3-6AF4-DE094EA45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58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18A77-31BB-1721-59D1-BD7CF466D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B668A2-B18D-778B-6808-16385B8F8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B8BFAF-9A13-E8CA-F03B-F02D28313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502466-DDA0-AA65-D280-07E4D3D6A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73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F0963-BBF9-84DA-BAC2-18C16B80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85EF64-C837-32F3-DB26-E7E9810FE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39E6B6-01D1-E5F7-531D-47BCE41C1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1D070A-1FCB-AEE2-65F2-C89B1BCEA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432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A0CBB-7BF8-0B12-ED12-765AEF03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232C65-5CEE-B667-61FA-35073B0AE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6226F6-1FEB-4BC8-C277-BB142E2E6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5E3F67-0158-F41D-2A19-11398F763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978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5AC6-BEB4-887D-7B7E-7DAF319E8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3A552A-2DE1-66A8-6671-4EAC86A10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C655D4-60BD-86CA-E42E-D768A9A46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F9ABF8-96CF-8BE7-548C-723EDC0F0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5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3F48A-56D3-1B34-C4BB-CAC41465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488350-D62B-869D-19C6-C5E096E95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CC4978-F74D-6604-1BCB-220348502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50CFAD-965C-7DF0-E7D8-CB5DAE393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450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49B8C-B68B-1568-6D12-D718844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A50BA5-96B1-1FA1-75C6-DE46E3B69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705234-BA1F-3D6B-70BB-56C68BF13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835D1B-2E07-F4DC-C709-683A076B2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176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8E139-3B39-D63B-A1BF-97FADB619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73D656-C508-C98C-382F-625D78AA1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DAEAAA-1132-7308-3340-53C0F0D98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413472-3948-6DE3-6F91-2E761BC53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033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F0898-F125-92FE-C33E-E05389F98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EB7E30-E755-4F02-F28E-EED43F8F1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A4B71D-42FC-9B93-BA08-1AD3BC3F4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10B5C0-7624-4092-21B6-79C1F3D5A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443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69134-E176-4DD7-0195-77350EA98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23BA04-71B3-05A1-E902-19A7872D9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E0E18E-1E0D-D6F8-CB12-8E5954939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EEEC28-A6B6-C865-6340-E67E0FD27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042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C4B2F-DDB1-837B-9E86-0F9884FA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AABF76-4DF1-BAE5-BEB6-C8A385BAE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C73E63-3677-6078-DCE0-6B24B5F2C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BE4203-8FB2-0D4C-7425-4DD3A8EF3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183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C2969-E30C-70B3-DC72-738AFE4A9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EBF890-2E1D-5CA3-3BD9-9DAB2120E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416BE-4E73-4375-7431-55D261863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4DA524-DC53-050C-63CC-5A048FA4A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7466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478B4-6674-CA62-7484-767AAC93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237EF7-19AE-562E-B92F-AD13A2B0B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6CA423-F09C-8F8B-7FD6-03A86F3FE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C6A6ED-28C5-B93C-8A6C-8FD11099E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326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3FC0-F931-72F9-76F1-AB7205B88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75C165-1259-D74A-4478-F46BDBED7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109ACC-D734-0A90-79EA-D5D42AC69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F4D08D-8745-A46E-C7A9-72F876EDE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3087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63FF9-2940-ED0E-6932-3A55BE1D7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4F81C9-AC80-6038-D5C9-AF4D25290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D8BAC7-EB18-A343-1553-6CBD16A70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91250D-2D45-9ACF-3001-2F36B9288B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5083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AF077-89B4-69B5-D6AC-DEED28D0D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6AD452-26C3-8293-CB58-FE7BE0835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D8A99E-7919-9806-7B94-899CA674C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A8DE28-A92E-8F42-AE08-F14EC1CF7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7375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FDEDF-CB32-4546-CC28-FBEA67C9F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2EACD2-7DC2-8D16-564D-3DF5CA972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92CE8D-863B-BAE9-2886-B325E94C8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033E1-C559-7EC1-39AE-E625FEA9A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849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0CBC-2F21-9851-F5A4-51BFDE82E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074C2B-96AF-4240-9C02-0AC3CD0FF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55598E-AFB1-CB78-1CAB-4A5BF3F78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28F184-89A3-0BD2-3694-0773E948E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3421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05063-27C1-8993-67C3-A7C524991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D8EBA2-B901-9F8B-1FDC-F5A6BECD6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594E8A-E059-AF09-BEB2-3DBF08527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DB5199-BAF8-74FA-1498-613887236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6759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63284-16C6-9DDA-F99B-D09BDEA8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59F507-A2F6-9F98-51FC-24E99ED12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BF5359-BFAE-A772-4214-851465270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FC9BFD-AC18-A0CF-F365-A95622924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7780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26733-DEA0-ACF4-CC21-458106A8A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51492E-0FA0-ACE5-5247-51469ED1D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8364DD-B611-20ED-92DE-C52C6D23C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A18CE3-716F-28F0-66AE-29C849036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795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6E1A5-7551-B9A6-44C8-BBA2FF5B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111DB4-9288-2C0C-6C7E-E87C045F3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FDA8EC-F793-61E0-F3D5-C52005FC3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3F5F9E-8505-4943-2FFB-EB678BC47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088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CC8B9-B61C-B297-DBA9-EAEADF379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B880C7-D451-25F3-0EE4-CF48C3225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59E572-D91A-AF44-A4EE-F6A8B54A2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9B165B-B381-B3EB-493B-7D6129896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1430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99875-EEDE-E02B-4380-A1BD6CAD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711613-59FB-BF3B-0E1B-3B092EE46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0E657A-633F-D496-D65B-5E8036147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977469-EAFE-1A12-51F3-9BE919988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6169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DB74-6206-87FE-D8E9-3AA87BF92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F38E37-0980-BC93-9277-F3CE9E68C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E9D011-B636-5C4E-CCDB-E0BCADFC4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71557-D604-2833-706B-31E0B5C70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727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D4D98-116E-DE0F-E03E-89EE7E95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00C4D2-F0F3-D614-07DA-CA319C716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AD253D-4F6B-98E1-B4A6-0D49F840D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0C80C0-BEFB-700F-CBB1-AB3A87961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9384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2DECE-7502-5C6A-6CC5-B8061228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C4543C-968E-7F78-9FC1-1F3533A8E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66B31A-E6FB-E210-38DB-A8478B10B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28786B-F834-86A5-A012-9383019C8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3052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105F-B2B9-2347-2011-8619D2E6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D90BE6-0323-BCBF-0550-D81C777B4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9E6C32-2938-08E7-107E-D01322D18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C74E89-3654-0B22-0445-B5704DB85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8058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DF1EF-9098-9D65-17EE-A00A088D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CBA8A-247C-B9A0-E897-0A8CA58C8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EC91E1-309B-FF9F-37E8-BA83BB6F9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B13C02-34C4-3E9D-6FA2-DA014309D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2763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DB553-6D5C-6DE2-05FF-D84138A0F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015AC4-FF1F-1436-D6A7-B8BAEA4DF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6B6AE-6D08-B823-1776-F9D9883AC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64BF1F-7CAA-5A1E-9B9F-62669AFF4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003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750CB-14DE-220B-0F86-74773F47E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C5366C-22B6-87FA-D2BF-0BAAC39C5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F4A9F3-0A74-FE44-0C0D-7D6AA5338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25DF71-9215-71CD-E43D-9CFDB8283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7660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08BCA-7B41-6BE3-0074-430CC892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C0B55D-071C-9E6E-B5A3-D11F517BF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1AFC05-3351-99DB-E4D2-CEAAF00E2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D565EA-1D3A-084D-1084-1BC666302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913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409AC-A031-5DFB-D80F-559B6B2B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E6A85F-0585-0A4F-3865-A34A87FD2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C0521-FCEC-1ECF-F59E-5B2A0F437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DF946-6DD6-30B9-600B-9BFED48AE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6058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E50D2-2C5B-93D8-9C04-9C6545629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58DD47-D60A-A139-0F88-714920970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44ED65-E19E-671A-BC6D-F8A8F86B0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D4E6FC-55FB-91E3-0398-AE1313A01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0427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0BEF3-01D7-D6B1-0488-D660FAFC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9E32EF-5699-4DB7-BF06-C9D732A7C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07F6B7-4553-2C85-3796-4CFA556D1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F7E4AD-32A5-EFD0-BD6F-3FFDDAD6E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0608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22287-5940-FB42-D6BA-E2A086C8D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292A11-0AB1-F381-F9D6-C62BD8130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69C764-6689-93AD-D34F-1CF1838D5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8E4D1E-BBD1-9F2E-94A9-C96AD5F37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3294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2A113-74C4-42B8-CE06-DE64FAB91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B9740B-5A6F-A6CF-ECBB-66DCE377C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A14EB4-9AA3-2201-DCAE-D46650577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6912D5-37DD-830B-B640-52FC48D3E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5926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D0D9D-CB0F-3D76-3A62-A3AF7189C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0CACF5-82EB-4B94-4195-F3299D63C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5AB30F-9517-FC82-B18E-28EA69041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951DD9-8074-85E2-A300-AF6C96244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41478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7A90-7CBD-4E22-6554-A66184E4E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670F77-99C6-B8E5-ADD6-6C3ABDADE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AAB3AB-98D9-65B0-8BA1-D2314BA52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117CD5-8169-169D-0CB8-42A37CDAA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8029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0F500-FB6D-07F4-985E-E8DE1E34C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C5C368-7261-2FD6-924E-049978850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750924-AD52-81C4-1594-B85AFCC8F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C01566-D739-2B3E-A6E1-2788B3B1F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80578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CA938-F381-8761-F8AF-5D04AD2FE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818DE1-F39B-6984-F893-634500402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FFD0A3-9D27-542F-EF54-303F19D8F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5EB372-229F-BDEE-2C91-36FFF338F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20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4/14/2026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4/14/2026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4/14/2026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4/14/2026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4/14/2026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813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7306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08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2210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462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23837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475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719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4/14/2026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9556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4/14/2026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18098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4/14/2026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95305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4/14/2026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71453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9335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02282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64426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76961309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19194343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6192019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455316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71523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408075543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49694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06014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3449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609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71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image" Target="../media/image7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632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여섯째마당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 err="1">
                <a:solidFill>
                  <a:schemeClr val="tx2"/>
                </a:solidFill>
              </a:rPr>
              <a:t>챗</a:t>
            </a:r>
            <a:r>
              <a:rPr lang="en-US" altLang="ko-KR" sz="5400" dirty="0">
                <a:solidFill>
                  <a:schemeClr val="tx2"/>
                </a:solidFill>
              </a:rPr>
              <a:t>GPT</a:t>
            </a:r>
            <a:r>
              <a:rPr lang="ko-KR" altLang="en-US" sz="5400" dirty="0">
                <a:solidFill>
                  <a:schemeClr val="tx2"/>
                </a:solidFill>
              </a:rPr>
              <a:t>의 근간</a:t>
            </a:r>
            <a:r>
              <a:rPr lang="en-US" altLang="ko-KR" sz="5400" dirty="0">
                <a:solidFill>
                  <a:schemeClr val="tx2"/>
                </a:solidFill>
              </a:rPr>
              <a:t>: </a:t>
            </a: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자연어 처리와 트랜스포머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22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장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시퀀스 배열로 다루는 순환 신경망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(RNN)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n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>
            <a:off x="827545" y="1182327"/>
            <a:ext cx="7661731" cy="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2" y="1643183"/>
            <a:ext cx="5983741" cy="1855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1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2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n-cs"/>
            </a:endParaRPr>
          </a:p>
          <a:p>
            <a:pPr>
              <a:lnSpc>
                <a:spcPct val="200000"/>
              </a:lnSpc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3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 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8006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1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sz="2600" dirty="0"/>
          </a:p>
        </p:txBody>
      </p:sp>
      <p:cxnSp>
        <p:nvCxnSpPr>
          <p:cNvPr id="8" name="직선 연결선 7"/>
          <p:cNvCxnSpPr>
            <a:cxnSpLocks/>
          </p:cNvCxnSpPr>
          <p:nvPr/>
        </p:nvCxnSpPr>
        <p:spPr>
          <a:xfrm flipV="1">
            <a:off x="1000366" y="3411487"/>
            <a:ext cx="7200875" cy="17513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F145F-0C5E-03EF-381D-9A17438F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31DBF-5078-C68B-31EA-D7D5FDFC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8F34E8A-6098-BC49-E070-B42C099A5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순환 신경망은 여러 개의 데이터가 순서대로 입력되었을 때 앞서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입력받은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데이터를 잠시 기억해 놓는 방법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기억된 데이터가 얼마나 중요한지 판단하고 별도의 가중치를 주어 다음 데이터로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넘어감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모든 입력 값에 이 작업을 순서대로 실행하므로 다음 층으로 넘어가기 전에 같은 층을 맴도는 것처럼 보이는데 이렇게 같은 층 안에서 맴도는 성질 때문에 순환 신경망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이하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RNN)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F5BCD35-2C27-C349-3733-2341CCE5198B}"/>
              </a:ext>
            </a:extLst>
          </p:cNvPr>
          <p:cNvSpPr txBox="1">
            <a:spLocks/>
          </p:cNvSpPr>
          <p:nvPr/>
        </p:nvSpPr>
        <p:spPr>
          <a:xfrm>
            <a:off x="1039311" y="3783210"/>
            <a:ext cx="8081453" cy="3180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22-1 | </a:t>
            </a:r>
            <a:r>
              <a:rPr lang="ko-KR" altLang="en-US" sz="1600" b="1" dirty="0"/>
              <a:t>일반 신경망과 순환 신경망</a:t>
            </a:r>
            <a:r>
              <a:rPr lang="en-US" altLang="ko-KR" sz="1600" b="1" dirty="0"/>
              <a:t>(RNN)</a:t>
            </a:r>
            <a:r>
              <a:rPr lang="ko-KR" altLang="en-US" sz="1600" b="1" dirty="0"/>
              <a:t>의 차이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9E46A2-0813-3ED9-D6AE-4FBFFBA1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68" y="4201396"/>
            <a:ext cx="4229100" cy="239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62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8FED-166B-D52F-E560-AFEEF4C72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5CEEA3-1D92-C13D-0863-EC5035598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1A23CB-41CF-3074-4216-2123107AEEB4}"/>
              </a:ext>
            </a:extLst>
          </p:cNvPr>
          <p:cNvSpPr txBox="1">
            <a:spLocks/>
          </p:cNvSpPr>
          <p:nvPr/>
        </p:nvSpPr>
        <p:spPr>
          <a:xfrm>
            <a:off x="827545" y="1585576"/>
            <a:ext cx="8081453" cy="3180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22-2 | “</a:t>
            </a:r>
            <a:r>
              <a:rPr lang="ko-KR" altLang="en-US" sz="1600" b="1" dirty="0"/>
              <a:t>오늘 주가가 몇이야</a:t>
            </a:r>
            <a:r>
              <a:rPr lang="en-US" altLang="ko-KR" sz="1600" b="1" dirty="0"/>
              <a:t>?”</a:t>
            </a:r>
            <a:r>
              <a:rPr lang="ko-KR" altLang="en-US" sz="1600" b="1" dirty="0"/>
              <a:t>를 </a:t>
            </a:r>
            <a:r>
              <a:rPr lang="en-US" altLang="ko-KR" sz="1600" b="1" dirty="0"/>
              <a:t>RNN</a:t>
            </a:r>
            <a:r>
              <a:rPr lang="ko-KR" altLang="en-US" sz="1600" b="1" dirty="0"/>
              <a:t>이 처리하는 방식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6271C4D-26E7-DBD7-974A-FD7A3AC30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45" y="1988825"/>
            <a:ext cx="63055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9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73D84-512C-574B-275E-CAA18383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D059C-339A-5352-906B-DAD3F0100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57A1638-73B8-29B6-BDE7-7AC02E05F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순환되는 중에 앞서 나온 입력에 대한 결과가 뒤에 나오는 입력 값에 영향을 주는 것을 알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해야 비슷한 두 문장이 입력되었을 때 그 차이를 구별해 출력 값에 반영할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7470929-60CC-EC79-5264-846CA6EFD7D1}"/>
              </a:ext>
            </a:extLst>
          </p:cNvPr>
          <p:cNvSpPr txBox="1">
            <a:spLocks/>
          </p:cNvSpPr>
          <p:nvPr/>
        </p:nvSpPr>
        <p:spPr>
          <a:xfrm>
            <a:off x="1041500" y="2795323"/>
            <a:ext cx="8081453" cy="3180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22-3 | RNN</a:t>
            </a:r>
            <a:r>
              <a:rPr lang="ko-KR" altLang="en-US" sz="1600" b="1" dirty="0"/>
              <a:t>을 사용하는 이유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81F2F0-AF1C-0A6E-E9EA-89233030C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0" y="3138499"/>
            <a:ext cx="659130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42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6692-A5E4-2262-810C-5298AF2D6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2B7C6-D5A8-7BA9-29D3-E869DF6F6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FFC27B9-F1F0-CDCA-DB17-2622C3867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LSTM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한 층 안에서 반복을 많이 해야 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RNN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특성상 일반 신경망보다 기울기 소실 문제가 더 많이 발생하고 이를 해결하기 어렵다는 단점을 보완한 방법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반복되기 직전에 다음 층으로 기억된 값을 넘길지 여부를 관리하는 단계를 하나 더 추가하는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83E44C2-6CF4-0249-D06F-99A8C8CFF435}"/>
              </a:ext>
            </a:extLst>
          </p:cNvPr>
          <p:cNvSpPr txBox="1">
            <a:spLocks/>
          </p:cNvSpPr>
          <p:nvPr/>
        </p:nvSpPr>
        <p:spPr>
          <a:xfrm>
            <a:off x="1041500" y="3110610"/>
            <a:ext cx="8081453" cy="3180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22-4 | LSTM</a:t>
            </a:r>
            <a:r>
              <a:rPr lang="ko-KR" altLang="en-US" sz="1600" b="1" dirty="0"/>
              <a:t>은 기억 값의 가중치를 관리하는 장치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FD7089F-8D0C-6A1A-1530-AD84193B5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4" y="3486294"/>
            <a:ext cx="56769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07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0B44F-A0E6-D413-FB1A-4C09E9BC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57A82-A8EE-2AF0-50AA-DF42795C7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B9EE247-24D4-E980-EE45-367408257B16}"/>
              </a:ext>
            </a:extLst>
          </p:cNvPr>
          <p:cNvSpPr txBox="1">
            <a:spLocks/>
          </p:cNvSpPr>
          <p:nvPr/>
        </p:nvSpPr>
        <p:spPr>
          <a:xfrm>
            <a:off x="827545" y="1585576"/>
            <a:ext cx="8081453" cy="3180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22-5 | RNN </a:t>
            </a:r>
            <a:r>
              <a:rPr lang="ko-KR" altLang="en-US" sz="1600" b="1" dirty="0"/>
              <a:t>방식의 다양한 활용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76D1943-A88F-3B96-8A25-24F819529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65" y="2018458"/>
            <a:ext cx="482917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03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31340-D07B-E9D5-22A0-A2A3ED3C2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F250B6-E522-47C7-FCB1-25BA5660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1D38B6-02DE-E3B2-75A3-F0135B88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31" y="1643183"/>
            <a:ext cx="496252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4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59A1F-6B73-DFA0-F398-B9B0E746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22F9B-B044-E432-A231-7CF38B2D7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F53565-EF28-1D30-7340-F8C2A28D9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24" y="1700790"/>
            <a:ext cx="655320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1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5E4C0-2E74-B87D-5B2C-84739E997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34D9A3-1A45-9F1E-8011-BEBBC179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A3A05B9-AFBB-790D-2B7B-FF8CACFA2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입력된 문장 의미를 파악하는 것은 곧 모든 단어를 종합해 하나의 카테고리로 분류하는 작업이라고 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조금 더 길고 전문적인 말도 정확하게 분류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 실습할 내용은 이처럼 긴 텍스트를 읽고 이 데이터가 어떤 의미를 지니는지 카테고리로 분류하는 연습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4F7C253-7B8E-3061-D462-6D30DD143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73" y="2737716"/>
            <a:ext cx="7115175" cy="1981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03881BA-0800-CE4C-E8D7-B2CF3028F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073" y="5347782"/>
            <a:ext cx="707707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87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A05CE-7F94-EA12-1044-1BFE7F78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4DCA7-DBDF-3684-6F69-F7B9E2DA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6409549-DC2C-9B05-78CA-484638705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불러온 데이터를 학습셋과 테스트셋으로 나누겠음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num_words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옵션은 무엇을 의미하는지 알아보고자 먼저 불러온 데이터에 대해 몇 가지를 출력해 보자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800FD3-3543-B06F-1F8C-A2EB862BB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73" y="2161646"/>
            <a:ext cx="7153275" cy="13239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4CB2CBF-DAFB-A1E6-9EA2-001A7413D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641" y="4100007"/>
            <a:ext cx="708660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15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1147F-791F-76F0-1C6A-CAA324B15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70A27-F7D8-1BEB-9868-27F4F9BDB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A04344F-19EC-F88C-70EA-FA568E340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n-cs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단어를 그대로 사용하지 않고 숫자로 변환한 후 학습할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여기서는 데이터 안에서 해당 단어가 몇 번이나 나타나는지 세어 빈도에 따라 번호를 붙였음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작업을 위해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tokenizer( 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같은 함수를 사용하는데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 작업을 이미 마친 데이터를 불러올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모든 단어를 다 사용하는 것은 비효율적이므로 빈도가 높은 단어만 불러와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사용하는 인자가 바로 테스트셋과 학습셋으로 나눌 때 함께 적용했던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num_words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=1000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빈도가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1~1,000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해당하는 단어만 선택해서 불러오는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E9C6A6-804D-02C0-DF13-F81EFEF8A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12" y="1873611"/>
            <a:ext cx="711517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8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3E406-9C2D-8B4D-14E7-E85B7697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269D8-8B42-E2B3-C4BD-71D5976D5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6935500-1E32-74ED-8042-D93F0F6CA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 하나 주의해야 할 점은 각 기사의 단어 수가 제각각 다르므로 이를 동일하게 맞추어야 한다는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이때는 다음과 같이 데이터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sequence()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maxlen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=100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단어 수를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개로 맞추라는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만일 입력된 기사의 단어 수가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보다 크면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개째 단어만 선택하고 나머지는 버림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모자랄 때는 모자라는 부분을 모두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채움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E56A55-7497-E86D-F7E0-1C06A43ED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098" y="2737716"/>
            <a:ext cx="714375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68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6DCE-E54F-B0CF-0FC8-C7C824C45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1BF54-4A57-20AA-9EE1-642AF52E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80A089C-C950-8C86-BED8-92592F543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데이터에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 처리를 하여 데이터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과정을 마침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과정이 끝났으므로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구조를 만들 차례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542D2F-E1B4-514B-8EA4-47B1544C3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80" y="2115007"/>
            <a:ext cx="7134225" cy="1371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970D457-9817-3FF4-B376-ACFECE9BE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867" y="3832249"/>
            <a:ext cx="710565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48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37262-A8DD-53FC-7FE8-0934196F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B49E4-31B1-EB14-DB9E-0BBB3602E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E9D09AE-8F24-F35A-2A61-47971FB33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다음과 같이     모델 실행의 옵션을 정하고    조기 중단 설정과 함께    학습을 실행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4E3F64-0DA0-7124-D21B-2C7D08F2C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58" y="1894489"/>
            <a:ext cx="200025" cy="2095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CA587AE-2F54-6C7F-189C-55F10BD9E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249" y="1913539"/>
            <a:ext cx="200025" cy="1905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3291FE5-4B9C-1BE9-1118-BD1122EDF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1494" y="1894489"/>
            <a:ext cx="209550" cy="2095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8ECE65B-3802-9A97-D607-15CE5DE3F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65" y="2161646"/>
            <a:ext cx="719137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10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6972D-DFC4-C5E7-861A-102AE2AB8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37C44-CA09-2062-0AE0-09A4B477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ECD0875-C4A2-8F90-1DC2-74F378DED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BF2ABDE-853E-56CA-5544-D546A9630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" y="1816004"/>
            <a:ext cx="721042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697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FEE68-4155-D458-8497-4A676B9CE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F80B1-9E96-85C5-E9B6-EF9E1D81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7AAC5CC-AD17-22A5-1A68-B8DB0C78B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51A58B-7613-06BA-C020-0D9518BFB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1889750"/>
            <a:ext cx="71056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72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F7B5F-BF68-092D-67E2-2C45E9B8C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AB511-D656-F4A8-A827-2522108EE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F76B432-156C-1FF0-60C9-DD0B2C7A2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6DF2EB-5919-F9F9-CE2D-FD3D78734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1873611"/>
            <a:ext cx="7048500" cy="16668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BA2D6BD-1759-A9D5-431F-0F68F5D2F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21" y="3540486"/>
            <a:ext cx="705802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18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AD41-5290-1B2B-493E-753E0DED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B5EFA-A809-FC23-7629-C47D8A16B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40FCCCC-DBC6-FCE8-5C9E-420A8D881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B16697-E319-843C-3A24-662C36993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1908661"/>
            <a:ext cx="71056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68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B9334-742E-AC0C-B454-E57042585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0D3614-84D6-93D8-81C6-C48E1C8B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245EA7B-36B6-E66A-30ED-930BB9B51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0FC731-91FC-2DB2-5B77-8F3BD56C3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87" y="1863917"/>
            <a:ext cx="713422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164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D5153-C175-5BFB-3758-487BCAD75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08C71-121E-5840-EFA6-03012D42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0ACE84E-0504-E03A-019D-37C7524E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62E553-A4A3-EBA7-00F4-A44C6E0A2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37" y="1873611"/>
            <a:ext cx="7096125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35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8A9A-2401-4504-B3F2-FBE093604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23F8B-48FD-FC0C-2B9A-CCDA2435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30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DF46A60-69CD-B13A-BB60-61C5397AC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을 이용한 로이터 뉴스 카테고리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F032CE-75E0-624C-FA47-7550264D8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" y="2335597"/>
            <a:ext cx="7210425" cy="374332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DE66C3DE-F268-3D72-7CBF-B80D13E68495}"/>
              </a:ext>
            </a:extLst>
          </p:cNvPr>
          <p:cNvSpPr txBox="1">
            <a:spLocks/>
          </p:cNvSpPr>
          <p:nvPr/>
        </p:nvSpPr>
        <p:spPr>
          <a:xfrm>
            <a:off x="1057973" y="1958783"/>
            <a:ext cx="8081453" cy="3180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22-4 | LSTM</a:t>
            </a:r>
            <a:r>
              <a:rPr lang="ko-KR" altLang="en-US" sz="1600" b="1" dirty="0"/>
              <a:t>은 기억 값의 가중치를 관리하는 장치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6810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6DD03-192E-033D-33E6-8A9B14A92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5D184DE-D628-DA37-2756-67D678ED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제목 8">
            <a:extLst>
              <a:ext uri="{FF2B5EF4-FFF2-40B4-BE49-F238E27FC236}">
                <a16:creationId xmlns:a16="http://schemas.microsoft.com/office/drawing/2014/main" id="{830FB9E7-0DE0-4520-03CE-9E2625EB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2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en-US" altLang="ko-KR" sz="26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22AB662-9AFD-3314-2DBC-E955B4FDC388}"/>
              </a:ext>
            </a:extLst>
          </p:cNvPr>
          <p:cNvCxnSpPr>
            <a:cxnSpLocks/>
          </p:cNvCxnSpPr>
          <p:nvPr/>
        </p:nvCxnSpPr>
        <p:spPr>
          <a:xfrm>
            <a:off x="712331" y="3429000"/>
            <a:ext cx="7719338" cy="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492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A27AC-D389-1602-2045-A8D2E14F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B5F1B2-0ADF-E134-2D5D-D1DFA7516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6882822-5702-1752-ED50-90AAD43D8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 사용할 인터넷 영화 데이터베이스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(Internet Movie 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DataBase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, IMDB)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영화와 관련된 정보와 출연진 정보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개봉 정보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영화 후기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평점까지 매우 폭넓은 데이터가 저장된 자료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로이터 뉴스 데이터와 마찬가지로 각 단어에 대한 전처리를 마친 상태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데이터셋에서 나타나는 빈도에 따라 번호가 정해지므로 빈도가 높은 데이터를 불러와 학습시킬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과정은 로이터 뉴스 데이터와 거의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다만 클래스가 긍정 또는 부정 두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가지뿐이라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 과정이 없음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21035B-14CD-B768-BD9E-640B5528A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148" y="4258701"/>
            <a:ext cx="712470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125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6D9CD-139E-A1F1-1FF4-B5C89BB99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74EA6-BE8A-7DEF-F851-939D07C7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F4FDC2B-8A75-F0AC-F4FE-57C79B13E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model.summary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이용해 현재 설정된 모델의 구조를 살펴보자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CBDFD2-8665-9633-566F-36D82DEB4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80" y="2161646"/>
            <a:ext cx="712470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363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F6737-B278-5CB7-3EB5-40A4A2D0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D3780-EB42-3765-D970-A3BEA042E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6C7E447-A5C9-7881-9FD4-77A166936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38A80F6-2D72-F351-1C89-DE0A3E086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73611"/>
            <a:ext cx="70866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888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F2C8C-95ED-A7A2-7861-018A18FA2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10D21-BE19-F75B-876D-B9A3C505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0036542-9951-6EB1-D79E-04EFE1CC3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A68490-B530-3CC6-983F-1FC25C3BA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87" y="1931218"/>
            <a:ext cx="71342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08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0F850-B17F-DA94-8015-7E2A3BD73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559F1-E6A3-28BB-9F87-D7866632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0A5D03B-11B2-68BF-E826-104D00A900B0}"/>
              </a:ext>
            </a:extLst>
          </p:cNvPr>
          <p:cNvSpPr txBox="1">
            <a:spLocks/>
          </p:cNvSpPr>
          <p:nvPr/>
        </p:nvSpPr>
        <p:spPr>
          <a:xfrm>
            <a:off x="827545" y="1585576"/>
            <a:ext cx="8081453" cy="3180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22-7 | Conv1D</a:t>
            </a:r>
            <a:r>
              <a:rPr lang="ko-KR" altLang="en-US" sz="1600" b="1" dirty="0"/>
              <a:t>의 개념 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8155372-BB9E-3118-1B90-10296BA9C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54" y="1970680"/>
            <a:ext cx="4378130" cy="456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09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3DAE5-BB65-7A36-73CC-74149F2A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097DE-AED0-D2B7-D839-34FC84CFD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1285F94-4C1C-DBC7-015B-CA4A1B376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노란색으로 표시된 배열이 커널을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커널이 지나가면서 원래의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 배열에 가중치를 각각 곱해 새로운 층인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층을 만듦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MaxPooling1D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역시 마찬가지로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 배열을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차원으로 바꾸어 정해진 구역 안에서 가장 큰 값을 다음 층으로 넘기고 나머지는 버림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50E6CA7-EDE9-FD68-C403-76DB29C5FE24}"/>
              </a:ext>
            </a:extLst>
          </p:cNvPr>
          <p:cNvSpPr txBox="1">
            <a:spLocks/>
          </p:cNvSpPr>
          <p:nvPr/>
        </p:nvSpPr>
        <p:spPr>
          <a:xfrm>
            <a:off x="1057973" y="3398958"/>
            <a:ext cx="8081453" cy="3180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22-8 | MaxPooling1D</a:t>
            </a:r>
            <a:r>
              <a:rPr lang="ko-KR" altLang="en-US" sz="1600" b="1" dirty="0"/>
              <a:t>의 개념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4ED8EE-8D43-F521-DF89-0E977D40F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80" y="3749266"/>
            <a:ext cx="55816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051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DD88C-6875-C2A4-91B6-0ABC06BA8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DDCB4-1515-3D79-C963-B2D2FB6C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B73B223-EBBB-0812-3B01-DED58363D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C5E0632-98B4-D1A5-A1A6-B45604B92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1795414"/>
            <a:ext cx="714375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6657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3DCC1-8884-0C86-03EC-49EFBD01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B83BA-F1B0-5E95-6A2B-8B539FFD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8A5CBF3-DF88-F973-ACAF-37A2E9433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F874528-08D9-037A-51C5-4E9BCD58A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12" y="1846749"/>
            <a:ext cx="711517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7105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975BE-8234-5AAE-061B-5136EFA5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CCC99-88AE-80EB-1406-0B7B73F8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FC334DF-E5A7-A79D-3014-810B3E3AC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78C38B-5852-ECEA-3AA7-70FF29884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12" y="1873611"/>
            <a:ext cx="7038975" cy="12763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6A4088-FCA9-E2AB-693C-E6B562144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512" y="3149961"/>
            <a:ext cx="70389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374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BF618-B4A4-2C9D-51C2-CF0E3B47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2A329C-93B5-23F6-676B-4454EC43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F2039D3-C619-D425-4A77-E875B12F3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8391F5-59D8-3A1C-C653-0F801508D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73611"/>
            <a:ext cx="70866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568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DC285-FD21-01A4-3047-F34562C8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9B367-B678-4C2F-A427-06C23462A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4E7DAF2-6041-8850-8B0C-109112264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B0AF4E-2F94-3E87-FBF3-8D5EEB3B0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1873611"/>
            <a:ext cx="7067550" cy="19145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C4AA2D-0910-5198-0B1E-E2658417B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512" y="3760164"/>
            <a:ext cx="7038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013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6BFB9-31EA-8397-02F5-FFD3810D2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CDB18-742C-212A-CD14-794834307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40FFA8D-BC3F-FCBE-9B32-9BCE45B3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LSTM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과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CNN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의 조합을 이용한 영화 리뷰 분류하기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BA6003-4982-B69E-A47A-35BAA63C5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2201333"/>
            <a:ext cx="7105650" cy="376237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E71C11CC-9AC0-8F54-0E6B-13B750F7DACE}"/>
              </a:ext>
            </a:extLst>
          </p:cNvPr>
          <p:cNvSpPr txBox="1">
            <a:spLocks/>
          </p:cNvSpPr>
          <p:nvPr/>
        </p:nvSpPr>
        <p:spPr>
          <a:xfrm>
            <a:off x="1156714" y="1883256"/>
            <a:ext cx="8081453" cy="3180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22-9 | </a:t>
            </a:r>
            <a:r>
              <a:rPr lang="ko-KR" altLang="en-US" sz="1600" b="1" dirty="0"/>
              <a:t>그래프로 확인하는 학습 결과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64770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B5256-2D87-055B-E679-F77048C02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F4B260-06D9-C0C0-D303-5E3372E4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7" name="제목 8">
            <a:extLst>
              <a:ext uri="{FF2B5EF4-FFF2-40B4-BE49-F238E27FC236}">
                <a16:creationId xmlns:a16="http://schemas.microsoft.com/office/drawing/2014/main" id="{92D56027-157A-FB13-58BE-AD8777C77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3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sz="26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BC87365-FADC-FB99-F622-1760BA5EFDDE}"/>
              </a:ext>
            </a:extLst>
          </p:cNvPr>
          <p:cNvCxnSpPr>
            <a:cxnSpLocks/>
          </p:cNvCxnSpPr>
          <p:nvPr/>
        </p:nvCxnSpPr>
        <p:spPr>
          <a:xfrm>
            <a:off x="2613362" y="3429000"/>
            <a:ext cx="3939838" cy="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2795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CBE7E-A42D-95E7-0DB5-2B7AD4C8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CFB30E-D215-0CB9-E430-D73273DC4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F255158-58FB-648E-FC26-48913AC7D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음성 인식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번역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질의응답 등 다양한 응용 분야에서 우리가 다루는 텍스트는 하나의 단순한 분류 문제로 끝나지 않고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문장 자체를 변환하거나 복원해 내는 과제가 많이 주어짐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과정은 단순한 분석을 넘어 자연어를 활용한 생성 모델이 필요하며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위한 대표적인 접근 방법 중 하나가 바로 시퀀스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투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시퀀스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(Sequence-to-Sequence, Seq2Seq)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Seq2Seq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모델은 앞에서 살펴본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LSTM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기반으로 한 인코더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디코더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구조를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인코더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(encoder)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입력 문장을 순환 신경망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(RNN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LSTM)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읽고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하나의 벡터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문맥 벡터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압축하여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디코더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(decoder)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전달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디코더는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 문맥 벡터를 받아가며 단어를 하나씩 추론하여 새로운 문장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출력 시퀀스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생성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인코더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디코더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구조를 통해 입력과 출력 시퀀스가 길이가 다르더라도 자연스럽게 문장 변환을 할 수 있음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09809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82EEB-74B4-31DD-2A1B-5CF405314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29DC7-9179-FCEC-4700-FB2B38B3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CB42E69-8D3B-396B-DE08-11C70AB8F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Seq2Seq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모델 구현하기</a:t>
            </a: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Seq2Seq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모델은 입력 문장을 벡터로 변환하는 인코더와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벡터를 기반으로 새로운 문장을 단어 단위로 생성하는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디코더로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구성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한국어 문장을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입력받아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영어 문장으로 번역하는 상황을 생각해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인코더가 한국어 문장의 의미를 하나의 벡터로 추출하면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디코더는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 벡터를 참고해 영어 단어들을 차례대로 예측하며 문장을 형성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위해 먼저 모델이 이해할 수 있는 형태로 데이터를 준비해야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사람이 사용하는 자연어 문장을 숫자 시퀀스로 변환하는 과정이 필요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75F8CA-7572-1CBA-2451-0CFC2791B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59" y="1931218"/>
            <a:ext cx="133350" cy="12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57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64902-AF06-4F02-D630-E4062ED79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F2AD1-72EC-E951-DA18-67180744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3651749-74D2-9C67-CA99-EA56E2966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실제 구현에서는 방대한 말뭉치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(corpus)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수집하고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단어에 고유한 인덱스를 부여하기 위해 토크나이징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(tokenizing)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인덱싱 과정을 거침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여기서는 이 모든 작업을 마친 상태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 이미 숫자로 표현된 데이터를 활용한다고 가정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22C2A2-EF82-5E65-2048-DC4C0CDA6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73" y="2737716"/>
            <a:ext cx="6682414" cy="381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172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9F071-BC1C-E7DE-987C-D2FC5CEEB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C671D-5895-71EA-911E-61CF7E78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A834050-54A6-0BC9-F80F-AE8BDBFBC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LSTM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입력하기 전에 모든 문장의 길이를 동일하게 맞추는 과정이 필요함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pad_sequences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사용하여 입력 문장의 길이를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출력 문장의 길이를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4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맞추었음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출력 데이터를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 형태로 변환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모든 단어 인덱스가 범위 안에 들어올 수 있도록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Y_train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안에서 가장 큰 인덱스를 찾은 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그보다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큰 값을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num_classes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지정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2FFF94-E57C-BE86-32A1-A08350BE9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53" y="2505532"/>
            <a:ext cx="7086600" cy="9810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6198010-770F-5966-9C15-DAEFAF58C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591" y="4408319"/>
            <a:ext cx="71056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300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76A8A-2BF0-BCBF-662F-F8315713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7B2CB-3F5D-2CB5-784C-A4BE74E45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9A95146-173E-A863-6953-38E18788C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인코더는 입력 문장을 숫자 배열로 받아들이고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벡터 형태로 변환한 뒤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LSTM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통해 처리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398266-9FA8-28CF-2BC8-A32928416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80" y="2466975"/>
            <a:ext cx="71723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904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2A913-09F5-84CD-51A0-68DFBB67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502FE1-E6B3-0F25-F80A-AE2B0372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0ABFCDD-6BE3-ED91-9388-575271377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디코더는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인코더가 파악한 문맥 정보를 바탕으로 새로운 문장을 단어 하나씩 만들어 내는 역할을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디코더는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각 시점마다 단어를 확률적으로 예측할 수 있게 되고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통해 새로운 문장을 한 단어씩 이어 붙여갈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6BF1DB-2CF0-B655-07C9-FB0FDD099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41" y="3025751"/>
            <a:ext cx="708660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243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E86E2-5796-7CC1-CF4C-9935DDD95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0B568-FBBE-7143-006D-C7361FA4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F0A987C-625A-34FB-1090-EBE52C97E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인코더 입력과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디코더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입력을 받아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디코더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출력을 내는 모델을 정의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5B66A4-087A-73F1-3805-0C0F57210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80" y="2161646"/>
            <a:ext cx="7086600" cy="7715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6C7B5A7-DD2D-532E-5B88-684A648F8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430" y="3025751"/>
            <a:ext cx="714375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2071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6683A-C071-97A3-5661-C9EBFF75F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77073-E1F3-6919-94C9-9D583156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629BBD9-A54E-04B4-0961-BCFBD4D19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204AFF-6B67-3D6E-8432-36CFE5ACC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872071"/>
            <a:ext cx="71628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053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DE686-0E5A-209B-D586-C9F1AE599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9AC24-1991-F99A-1B09-5A2F97698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AB00769-D456-D483-3B6A-C30986E5A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DE7C756-C8B9-AF35-C4E2-15619BD3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1931218"/>
            <a:ext cx="7029450" cy="28289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7A15EC2-6D78-899F-1989-839B7C0D4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512" y="4756775"/>
            <a:ext cx="703897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56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B805B-5902-7903-4B67-930EF021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9E0D1-8331-078C-DD56-A4F8DD132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A40EA3F-086C-E308-42AE-02D0042D9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A80E248-2425-3667-10D9-30A3E96E8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1966864"/>
            <a:ext cx="71247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571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DFEC4-699B-8863-CFF2-EDE139EB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C7F887-35CF-8194-0E8F-1CBD703D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702FACF-4FBA-716D-7989-C8D2820E5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57BB9E-15B0-7DAB-9588-C7A501F6F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03316"/>
            <a:ext cx="70866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735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443A3-F8D6-03A1-08DE-2781535BE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C616-1DAE-5845-0271-EF916A2A8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9C8CA0E-188C-D49B-F041-7149D931E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1FC46D0-E90B-D0C4-BFDE-7A14BC5B5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62" y="1873611"/>
            <a:ext cx="707707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448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4BE99-5AF3-82E5-B630-94D3A5CE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484E53-CCB0-903B-7823-F15DA707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BA33BF4-532F-46F4-EF71-DC9E10E18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61AC08-467E-8029-A72D-7523109F2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7" y="1873611"/>
            <a:ext cx="705802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761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7D6F4-C196-FFAA-C959-4B28D25C8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15AC2-60D1-6A8C-461E-8561682D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en-US" altLang="ko-KR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9878EAA-1E1C-7262-BD92-38B210717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Seq2Seq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모델과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어텐션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BCD8212-BCE6-E4F5-65B1-F2384E95D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62" y="2206817"/>
            <a:ext cx="7153275" cy="444817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CD8F0624-DBA8-609C-C7D5-878E6029D7BA}"/>
              </a:ext>
            </a:extLst>
          </p:cNvPr>
          <p:cNvSpPr txBox="1">
            <a:spLocks/>
          </p:cNvSpPr>
          <p:nvPr/>
        </p:nvSpPr>
        <p:spPr>
          <a:xfrm>
            <a:off x="1156714" y="1958783"/>
            <a:ext cx="8081453" cy="3180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22-10 | </a:t>
            </a:r>
            <a:r>
              <a:rPr lang="ko-KR" altLang="en-US" sz="1600" b="1" dirty="0"/>
              <a:t>학습 결과를 그래프로 표현하기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71798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3325</TotalTime>
  <Words>1659</Words>
  <Application>Microsoft Office PowerPoint</Application>
  <PresentationFormat>화면 슬라이드 쇼(4:3)</PresentationFormat>
  <Paragraphs>252</Paragraphs>
  <Slides>51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51</vt:i4>
      </vt:variant>
    </vt:vector>
  </HeadingPairs>
  <TitlesOfParts>
    <vt:vector size="62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3_Office Theme</vt:lpstr>
      <vt:lpstr>PowerPoint 프레젠테이션</vt:lpstr>
      <vt:lpstr>PowerPoint 프레젠테이션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3 Seq2Seq 모델과 어텐션</vt:lpstr>
      <vt:lpstr>3 Seq2Seq 모델과 어텐션</vt:lpstr>
      <vt:lpstr>3 Seq2Seq 모델과 어텐션</vt:lpstr>
      <vt:lpstr>3 Seq2Seq 모델과 어텐션</vt:lpstr>
      <vt:lpstr>3 Seq2Seq 모델과 어텐션</vt:lpstr>
      <vt:lpstr>3 Seq2Seq 모델과 어텐션</vt:lpstr>
      <vt:lpstr>3 Seq2Seq 모델과 어텐션</vt:lpstr>
      <vt:lpstr>3 Seq2Seq 모델과 어텐션</vt:lpstr>
      <vt:lpstr>3 Seq2Seq 모델과 어텐션</vt:lpstr>
      <vt:lpstr>3 Seq2Seq 모델과 어텐션</vt:lpstr>
      <vt:lpstr>3 Seq2Seq 모델과 어텐션</vt:lpstr>
      <vt:lpstr>3 Seq2Seq 모델과 어텐션</vt:lpstr>
      <vt:lpstr>3 Seq2Seq 모델과 어텐션</vt:lpstr>
      <vt:lpstr>3 Seq2Seq 모델과 어텐션</vt:lpstr>
      <vt:lpstr>3 Seq2Seq 모델과 어텐션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진형 조</cp:lastModifiedBy>
  <cp:revision>645</cp:revision>
  <cp:lastPrinted>2016-08-10T06:58:55Z</cp:lastPrinted>
  <dcterms:created xsi:type="dcterms:W3CDTF">2013-04-05T19:58:06Z</dcterms:created>
  <dcterms:modified xsi:type="dcterms:W3CDTF">2026-04-14T07:24:27Z</dcterms:modified>
</cp:coreProperties>
</file>